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914400"/>
            <a:ext cx="82296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AI 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65960"/>
            <a:ext cx="7772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06B6D4"/>
                </a:solidFill>
                <a:latin typeface="Aptos Display"/>
              </a:defRPr>
            </a:pPr>
            <a:r>
              <a:t>SCANNER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8046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Aptos"/>
              </a:defRPr>
            </a:pPr>
            <a:r>
              <a:t>Automated Resume Screening &amp; Candidate Ranking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9476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94A3B8"/>
                </a:solidFill>
                <a:latin typeface="Aptos"/>
              </a:defRPr>
            </a:pPr>
            <a:r>
              <a:t>AI / Machine Learning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57200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Aptos"/>
              </a:defRPr>
            </a:pPr>
            <a:r>
              <a:t>Chaitanya Furfero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34440"/>
            <a:ext cx="2834640" cy="402336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49640" y="1600200"/>
            <a:ext cx="21945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94A3B8"/>
                </a:solidFill>
                <a:latin typeface="Aptos"/>
              </a:defRPr>
            </a:pPr>
            <a:r>
              <a:t>RESUME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011680"/>
            <a:ext cx="10972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200" b="1">
                <a:solidFill>
                  <a:srgbClr val="06B6D4"/>
                </a:solidFill>
                <a:latin typeface="Aptos"/>
              </a:defRPr>
            </a:pPr>
            <a:r>
              <a:t>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3317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Aptos"/>
              </a:defRPr>
            </a:pPr>
            <a:r>
              <a:t>/ 100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49640" y="3063240"/>
            <a:ext cx="2148840" cy="109728"/>
          </a:xfrm>
          <a:prstGeom prst="round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40" y="3063240"/>
            <a:ext cx="1783080" cy="10972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352044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ptos"/>
              </a:defRPr>
            </a:pPr>
            <a:r>
              <a:t>SHORTLISTED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977639"/>
            <a:ext cx="2194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CBD5E1"/>
                </a:solidFill>
                <a:latin typeface="Aptos"/>
              </a:defRPr>
            </a:pPr>
            <a:r>
              <a:t>Skills  ✓   Experience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High screening volume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283464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Recruiters may receive hundreds of resumes for a single role. Manual review becomes slow as the candidate pool grows.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420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Inconsistent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58568"/>
            <a:ext cx="283464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Different reviewers may emphasize different skills, creating inconsistent early-stage screening decisions.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08760"/>
            <a:ext cx="73152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Need for prioritization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58568"/>
            <a:ext cx="283464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An automated first-pass score can reduce the pool and help recruiters focus on the most relevant candidates.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46177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Reduce repetitive resume screening work.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0876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59" y="1508760"/>
            <a:ext cx="73152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59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59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173736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2258568"/>
            <a:ext cx="46177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Identify skills, education and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65760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657600"/>
            <a:ext cx="73152" cy="1737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88620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87705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886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07408"/>
            <a:ext cx="46177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Compare candidate profiles with a job description.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657600"/>
            <a:ext cx="516636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9359" y="3657600"/>
            <a:ext cx="73152" cy="17373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59" y="388620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59" y="387705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8862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Rank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79" y="4407408"/>
            <a:ext cx="461772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Produce a consistent score and candidate order.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PROPOSED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508760" y="10058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From document ingestion to explainable candidate ranking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764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031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Resume files + Job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002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764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1031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Text 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002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9672" y="1764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21031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NLP preprocessing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9720" y="16002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54312" y="17647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4312" y="21031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Skill / entity extraction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6576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3822191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1605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Similarity &amp; scoring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6576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85032" y="3822191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85032" y="41605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Threshold filtering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57600"/>
            <a:ext cx="2331720" cy="123444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9672" y="3822191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4160520"/>
            <a:ext cx="1965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  <a:latin typeface="Aptos"/>
              </a:defRPr>
            </a:pPr>
            <a:r>
              <a:t>Ranking &amp; recruiter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9893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475569"/>
                </a:solidFill>
                <a:latin typeface="Aptos"/>
              </a:defRPr>
            </a:pPr>
            <a:r>
              <a:t>End-to-end pipeline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2011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0848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Resume PDFs / DOCX</a:t>
            </a:r>
            <a:br/>
            <a:r>
              <a:t>Job 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87752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79" y="1828800"/>
            <a:ext cx="2011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08960" y="20848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74320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Parsing + cleaning</a:t>
            </a:r>
            <a:br/>
            <a:r>
              <a:t>normalization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1828800"/>
            <a:ext cx="2011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20848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AI / 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274320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Entities + skills</a:t>
            </a:r>
            <a:br/>
            <a:r>
              <a:t>similarity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1192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19" y="1828800"/>
            <a:ext cx="2011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399" y="20848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6B6D4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399" y="274320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Score + threshold</a:t>
            </a:r>
            <a:br/>
            <a:r>
              <a:t>shortlist / reject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82911" y="2743200"/>
            <a:ext cx="320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475569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921240" y="1828800"/>
            <a:ext cx="2011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04119" y="2084831"/>
            <a:ext cx="1645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2563EB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04119" y="2743200"/>
            <a:ext cx="1645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Ranking + insights</a:t>
            </a:r>
            <a:br/>
            <a:r>
              <a:t>for recruiter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98348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475569"/>
                </a:solidFill>
                <a:latin typeface="Aptos"/>
              </a:defRPr>
            </a:pPr>
            <a:r>
              <a:t>Modular design makes each stage independently testable and replaceable.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RESUME TEXT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Document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Read PDF/DOCX files and convert their contents into machine-readable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73736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Structure preservation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58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Keep useful sections such as Skills, Education and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93192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3192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Noise removal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5312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Normalize whitespace and remove irrelevant formatting artifacts.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22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93192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Quality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5312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Handle empty, malformed or poorly extracted documents safely.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NLP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5448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Lowercase &amp; normalize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155448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79" y="1783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79" y="2240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19" y="155448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19" y="178308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224028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Punctuation / whitespace cleanup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56616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Stop-word handling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79" y="356616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79" y="37947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Lemmatization when useful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19" y="3566160"/>
            <a:ext cx="3291840" cy="141732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19" y="3794760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4251960"/>
            <a:ext cx="2743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Clean text for feature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SKILL &amp; INFORMATION EXTRACTION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Technical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28346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Programming languages, frameworks, databases, ML tools and domain technologies.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429768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Experience &amp; 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58568"/>
            <a:ext cx="28346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Identify roles, years of experience, degrees, institutions and certifications.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3832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08760"/>
            <a:ext cx="73152" cy="4297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NLP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58568"/>
            <a:ext cx="2834640" cy="3383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Use keyword matching, NER and structured rules to convert text into usable signals.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RESUME–JOB MATCHING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ptos"/>
              </a:defRPr>
            </a:pPr>
            <a:r>
              <a:t>JOB DESCRIPTION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"/>
              </a:defRPr>
            </a:pPr>
            <a:r>
              <a:t>Python • SQL • Machine Learning • NLP • 2+ years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08760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ptos"/>
              </a:defRPr>
            </a:pPr>
            <a:r>
              <a:t>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74519"/>
            <a:ext cx="4663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  <a:latin typeface="Aptos"/>
              </a:defRPr>
            </a:pPr>
            <a:r>
              <a:t>Python • SQL • NLP • 3 years • B.Tech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926080"/>
            <a:ext cx="10424160" cy="7315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337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563EB"/>
                </a:solidFill>
                <a:latin typeface="Aptos"/>
              </a:defRPr>
            </a:pPr>
            <a:r>
              <a:t>MATCHING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794760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794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33672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3367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72584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Education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6725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Medium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11496"/>
            <a:ext cx="2926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0F172A"/>
                </a:solidFill>
                <a:latin typeface="Aptos"/>
              </a:defRPr>
            </a:pPr>
            <a:r>
              <a:t>Semantic similarity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11149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Aptos"/>
              </a:defRPr>
            </a:pPr>
            <a:r>
              <a:t>High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SCORING &amp; REJECTION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828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187451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resumes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10424160" cy="594360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5212080" cy="5943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89320" y="2743200"/>
            <a:ext cx="5212080" cy="59436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37 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8803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ptos"/>
              </a:defRPr>
            </a:pPr>
            <a:r>
              <a:t>63 shortlisted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657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DC2626"/>
                </a:solidFill>
                <a:latin typeface="Aptos"/>
              </a:defRPr>
            </a:pPr>
            <a:r>
              <a:t>&lt; 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0" y="3657600"/>
            <a:ext cx="10972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16A34A"/>
                </a:solidFill>
                <a:latin typeface="Aptos"/>
              </a:defRPr>
            </a:pPr>
            <a:r>
              <a:t>≥ 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09160"/>
            <a:ext cx="102412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Aptos"/>
              </a:defRPr>
            </a:pPr>
            <a:r>
              <a:t>Threshold is configurable and should be validated against the role, data quality and business requirements.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ptos"/>
              </a:defRPr>
            </a:pPr>
            <a:r>
              <a:t>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3200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2563EB"/>
                </a:solidFill>
                <a:latin typeface="Aptos"/>
              </a:defRPr>
            </a:pPr>
            <a:r>
              <a:t>87 /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4297680" cy="146304"/>
          </a:xfrm>
          <a:prstGeom prst="round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3749039" cy="14630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50876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ptos"/>
              </a:defRPr>
            </a:pPr>
            <a:r>
              <a:t>Matched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1874519"/>
            <a:ext cx="5029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0F172A"/>
                </a:solidFill>
                <a:latin typeface="Aptos"/>
              </a:defRPr>
            </a:pPr>
            <a:r>
              <a:t>Python  •  SQL  •  NLP  • 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2743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ptos"/>
              </a:defRPr>
            </a:pPr>
            <a:r>
              <a:t>Missing / lower-confidence skills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77840" y="3108960"/>
            <a:ext cx="50292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0F172A"/>
                </a:solidFill>
                <a:latin typeface="Aptos"/>
              </a:defRPr>
            </a:pPr>
            <a:r>
              <a:t>Cloud deployment  •  Docker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1037844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60520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475569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4096512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6A34A"/>
                </a:solidFill>
                <a:latin typeface="Aptos"/>
              </a:defRPr>
            </a:pPr>
            <a:r>
              <a:t>SHORTLIST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297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Aptos"/>
              </a:defRPr>
            </a:pPr>
            <a:r>
              <a:t>Score is an assistive signal — not a final hiring decision.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Example: screening 100 resumes for a Data Scientist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402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6032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2563EB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3375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Aptos"/>
              </a:defRPr>
            </a:pPr>
            <a:r>
              <a:t>uploaded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22402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256032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DC2626"/>
                </a:solidFill>
                <a:latin typeface="Aptos"/>
              </a:defRPr>
            </a:pPr>
            <a:r>
              <a:t>37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3375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Aptos"/>
              </a:defRPr>
            </a:pPr>
            <a:r>
              <a:t>below 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59" y="22402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56032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16A34A"/>
                </a:solidFill>
                <a:latin typeface="Aptos"/>
              </a:defRPr>
            </a:pPr>
            <a:r>
              <a:t>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3375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Aptos"/>
              </a:defRPr>
            </a:pPr>
            <a:r>
              <a:t>≥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2240280"/>
            <a:ext cx="24231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560320"/>
            <a:ext cx="1920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06B6D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337560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475569"/>
                </a:solidFill>
                <a:latin typeface="Aptos"/>
              </a:defRPr>
            </a:pPr>
            <a:r>
              <a:t>top candidates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EXPECTED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Core implementation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0876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3736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NLTK / spaCy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25856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NLP &amp; entity extraction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087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3736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25856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ML &amp; similarity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5661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56616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37947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78561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79476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TF-IDF / Embeddings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1596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Text representation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5661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5661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63440" y="37947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78561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79476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PDF / DOCX parsers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431596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Document ingestion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56616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56616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66760" y="37947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785615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79476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1596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Interactive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ADVANTAGES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Candidate name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39" y="1554480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148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Overall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1554480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48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Matched skills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554480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59" y="173736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59" y="214884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Missing skills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20439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0332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148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Experience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0439" y="3520439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3320" y="370332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1148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Shortlist / reject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59" y="3520439"/>
            <a:ext cx="2468880" cy="137160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3703320"/>
            <a:ext cx="3657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2563E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11480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Aptos"/>
              </a:defRPr>
            </a:pPr>
            <a:r>
              <a:t>Candidate ranking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LIMITATIONS &amp; ETHICAL CONSIDERATIONS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Faster screening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283464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Process large resume batches without manually reading every document.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087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08760"/>
            <a:ext cx="73152" cy="42062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Consistent framework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58568"/>
            <a:ext cx="283464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Apply the same scoring criteria across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08760"/>
            <a:ext cx="33832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08760"/>
            <a:ext cx="73152" cy="4206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73736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737360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Better prioritization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258568"/>
            <a:ext cx="2834640" cy="3291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Surface stronger matches for recruiter attention.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37360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Bias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58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Poorly designed features or historical data can reproduce unfair patterns.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73152" cy="18288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73736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72821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73736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Extraction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25856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Unusual layouts or scanned documents can reduce parsing accuracy.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03320"/>
            <a:ext cx="731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393192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3922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93192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Explainability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45312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Recruiters should understand the signals behind a score.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3703320"/>
            <a:ext cx="51206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3703320"/>
            <a:ext cx="73152" cy="1828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931920"/>
            <a:ext cx="4572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92277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931920"/>
            <a:ext cx="4069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Human oversight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453128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Use the scanner to assist screening, not to make autonomous hiring decisions.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78308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739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8308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Transformer embeddings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0428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Planned enhancement for a stronger production-ready system.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55448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155448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63440" y="178308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7739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178308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Multilingual resumes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230428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Planned enhancement for a stronger production-ready system.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55448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5544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366760" y="178308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739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78308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Learned scoring weights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30428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Planned enhancement for a stronger production-ready 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1188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1188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" y="384048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8313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84048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Recruiter analytics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6168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Planned enhancement for a stronger production-ready system.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34840" y="361188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34840" y="361188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63440" y="384048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63440" y="38313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384048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Resume improvement suggestions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59" y="436168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Planned enhancement for a stronger production-ready system.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611880"/>
            <a:ext cx="3246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3611880"/>
            <a:ext cx="73152" cy="1645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366760" y="3840480"/>
            <a:ext cx="457200" cy="45720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831336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3840480"/>
            <a:ext cx="219455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0F172A"/>
                </a:solidFill>
                <a:latin typeface="Aptos"/>
              </a:defRPr>
            </a:pPr>
            <a:r>
              <a:t>Explainable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361688"/>
            <a:ext cx="2697479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0">
                <a:solidFill>
                  <a:srgbClr val="475569"/>
                </a:solidFill>
                <a:latin typeface="Aptos"/>
              </a:defRPr>
            </a:pPr>
            <a:r>
              <a:t>Planned enhancement for a stronger production-ready system.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64748B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64748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115568"/>
            <a:ext cx="685800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00584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Aptos"/>
              </a:defRPr>
            </a:pPr>
            <a:r>
              <a:t>A practical AI-assisted first-pass screening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241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Automates the first stage of resume screening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Aptos"/>
              </a:defRPr>
            </a:pPr>
            <a:r>
              <a:t>NLP extracts candidate information • Matching measures relevance • Scoring prioritizes candidates • Human review remains essential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886200"/>
            <a:ext cx="10241280" cy="1051560"/>
          </a:xfrm>
          <a:prstGeom prst="roundRect">
            <a:avLst/>
          </a:prstGeom>
          <a:solidFill>
            <a:srgbClr val="1E293B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4160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Aptos"/>
              </a:defRPr>
            </a:pPr>
            <a: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06908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Reduce recruiter workload while keeping the screening process structured, explainable and responsible.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473952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50" b="1">
                <a:solidFill>
                  <a:srgbClr val="94A3B8"/>
                </a:solidFill>
                <a:latin typeface="Aptos"/>
              </a:defRPr>
            </a:pPr>
            <a:r>
              <a:t>AI RESUME SCANNER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